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601db31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601db31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f834028c7_1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f834028c7_1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f834028c7_1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f834028c7_1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f834028c7_1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f834028c7_1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f834028c7_1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f834028c7_1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f834028c7_1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f834028c7_1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f834028c7_1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f834028c7_1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f601db31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f601db31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f601db31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f601db31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f601db31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f601db31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f834028c7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f834028c7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60711" y="4764779"/>
            <a:ext cx="1023350" cy="38626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7.png"/><Relationship Id="rId13" Type="http://schemas.openxmlformats.org/officeDocument/2006/relationships/image" Target="../media/image26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33575" y="1077218"/>
            <a:ext cx="4730100" cy="11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80"/>
              <a:t>Interactive Nozzle Flow Visualization Platform </a:t>
            </a:r>
            <a:endParaRPr sz="318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92670" y="2119350"/>
            <a:ext cx="5211900" cy="4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Real-Time Scientific Visualization using Unity </a:t>
            </a:r>
            <a:endParaRPr sz="170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48" y="92857"/>
            <a:ext cx="1958466" cy="7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11250" y="2697117"/>
            <a:ext cx="4460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DE &amp; DKE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Hemanth Nagaraj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Rakshan Sujan Shetty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Mantasha Khanam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CEE 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Shashank Suresh Srinivasan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Theresa Kasthuri Dinah Samuel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Jaideep Paramashivaiah Buksagarmath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750" y="-45175"/>
            <a:ext cx="3676325" cy="51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/>
              <a:t>Solver development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5311800" cy="30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Wall profile development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Quasi 1D system definition &amp; solver development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2D system definition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Investigation &amp; selection of numerical &amp; computational methods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Solver development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Testing &amp; Optimization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Packaging the solver for the app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/>
              <a:t>Wall Profile Development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409075"/>
            <a:ext cx="53118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Continuous &amp; smooth profile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Area-Mach consistency (according to required </a:t>
            </a:r>
            <a:r>
              <a:rPr lang="en-GB" sz="1200">
                <a:solidFill>
                  <a:schemeClr val="dk1"/>
                </a:solidFill>
              </a:rPr>
              <a:t>outlet</a:t>
            </a:r>
            <a:r>
              <a:rPr lang="en-GB" sz="1200">
                <a:solidFill>
                  <a:schemeClr val="dk1"/>
                </a:solidFill>
              </a:rPr>
              <a:t> conditions)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Prandtl-Meyer expansion compatibility (for shockfree outlet condition)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300800" y="950371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/>
              <a:t>Governing conditions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22600" y="3095675"/>
            <a:ext cx="53118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Method of Characteristics contour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Common mathematical functions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Rao’s bell contour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2636971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/>
              <a:t>Profile considerations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/>
              <a:t>Wall Profile Development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409075"/>
            <a:ext cx="53118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Exponential	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</a:t>
            </a:r>
            <a:r>
              <a:rPr lang="en-GB" sz="1200">
                <a:solidFill>
                  <a:schemeClr val="dk1"/>
                </a:solidFill>
              </a:rPr>
              <a:t>inusoidal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Prandtl-Meyer expansion equation 	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00800" y="950371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1500"/>
              <a:t>Common mathematical functions</a:t>
            </a:r>
            <a:endParaRPr b="1" sz="1800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421525" y="1343975"/>
            <a:ext cx="46020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Algebraic</a:t>
            </a:r>
            <a:r>
              <a:rPr lang="en-GB" sz="1200">
                <a:solidFill>
                  <a:schemeClr val="dk1"/>
                </a:solidFill>
              </a:rPr>
              <a:t>	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Elliptical</a:t>
            </a:r>
            <a:r>
              <a:rPr lang="en-GB" sz="1200">
                <a:solidFill>
                  <a:schemeClr val="dk1"/>
                </a:solidFill>
              </a:rPr>
              <a:t>	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417125" y="3806025"/>
            <a:ext cx="1695900" cy="3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Exponential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2572550" y="3806025"/>
            <a:ext cx="1695900" cy="3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Sinusoidal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4727975" y="3806025"/>
            <a:ext cx="1695900" cy="3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Algebraic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6913050" y="3806025"/>
            <a:ext cx="1695900" cy="3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Elliptical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429" y="1300182"/>
            <a:ext cx="249696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 rotWithShape="1">
          <a:blip r:embed="rId4">
            <a:alphaModFix/>
          </a:blip>
          <a:srcRect b="0" l="0" r="0" t="24437"/>
          <a:stretch/>
        </p:blipFill>
        <p:spPr>
          <a:xfrm>
            <a:off x="1765150" y="1799300"/>
            <a:ext cx="2443525" cy="4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5">
            <a:alphaModFix/>
          </a:blip>
          <a:srcRect b="17978" l="0" r="0" t="19601"/>
          <a:stretch/>
        </p:blipFill>
        <p:spPr>
          <a:xfrm>
            <a:off x="5761275" y="1344500"/>
            <a:ext cx="28825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 rotWithShape="1">
          <a:blip r:embed="rId6">
            <a:alphaModFix/>
          </a:blip>
          <a:srcRect b="0" l="0" r="0" t="16902"/>
          <a:stretch/>
        </p:blipFill>
        <p:spPr>
          <a:xfrm>
            <a:off x="5772200" y="1701450"/>
            <a:ext cx="2585150" cy="4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Angle_comp_eli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13050" y="2689000"/>
            <a:ext cx="1946650" cy="120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Angle_comp_exp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7125" y="2687375"/>
            <a:ext cx="1946650" cy="12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Angle_comp_sin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82963" y="2687368"/>
            <a:ext cx="1925828" cy="12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Angle_comp_alg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89076" y="2687384"/>
            <a:ext cx="1946650" cy="120754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type="title"/>
          </p:nvPr>
        </p:nvSpPr>
        <p:spPr>
          <a:xfrm>
            <a:off x="417125" y="4431050"/>
            <a:ext cx="1335300" cy="214800"/>
          </a:xfrm>
          <a:prstGeom prst="rect">
            <a:avLst/>
          </a:prstGeom>
        </p:spPr>
        <p:txBody>
          <a:bodyPr anchorCtr="0" anchor="t" bIns="59150" lIns="59150" spcFirstLastPara="1" rIns="59150" wrap="square" tIns="59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53"/>
              </a:spcBef>
              <a:spcAft>
                <a:spcPts val="0"/>
              </a:spcAft>
              <a:buNone/>
            </a:pPr>
            <a:r>
              <a:rPr lang="en-GB" sz="582">
                <a:solidFill>
                  <a:srgbClr val="666666"/>
                </a:solidFill>
              </a:rPr>
              <a:t>PM theoretical limit</a:t>
            </a:r>
            <a:endParaRPr sz="582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53"/>
              </a:spcBef>
              <a:spcAft>
                <a:spcPts val="388"/>
              </a:spcAft>
              <a:buNone/>
            </a:pPr>
            <a:r>
              <a:t/>
            </a:r>
            <a:endParaRPr sz="582">
              <a:solidFill>
                <a:srgbClr val="666666"/>
              </a:solidFill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 flipH="1">
            <a:off x="1173080" y="4536028"/>
            <a:ext cx="239700" cy="2100"/>
          </a:xfrm>
          <a:prstGeom prst="straightConnector1">
            <a:avLst/>
          </a:prstGeom>
          <a:noFill/>
          <a:ln cap="flat" cmpd="sng" w="18500">
            <a:solidFill>
              <a:srgbClr val="F5772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6"/>
          <p:cNvSpPr txBox="1"/>
          <p:nvPr>
            <p:ph type="title"/>
          </p:nvPr>
        </p:nvSpPr>
        <p:spPr>
          <a:xfrm>
            <a:off x="417125" y="4548360"/>
            <a:ext cx="1335300" cy="214800"/>
          </a:xfrm>
          <a:prstGeom prst="rect">
            <a:avLst/>
          </a:prstGeom>
        </p:spPr>
        <p:txBody>
          <a:bodyPr anchorCtr="0" anchor="t" bIns="59150" lIns="59150" spcFirstLastPara="1" rIns="59150" wrap="square" tIns="59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53"/>
              </a:spcBef>
              <a:spcAft>
                <a:spcPts val="0"/>
              </a:spcAft>
              <a:buNone/>
            </a:pPr>
            <a:r>
              <a:rPr lang="en-GB" sz="582">
                <a:solidFill>
                  <a:srgbClr val="666666"/>
                </a:solidFill>
              </a:rPr>
              <a:t>Wall profile contour</a:t>
            </a:r>
            <a:endParaRPr sz="582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53"/>
              </a:spcBef>
              <a:spcAft>
                <a:spcPts val="388"/>
              </a:spcAft>
              <a:buNone/>
            </a:pPr>
            <a:r>
              <a:t/>
            </a:r>
            <a:endParaRPr sz="582">
              <a:solidFill>
                <a:srgbClr val="666666"/>
              </a:solidFill>
            </a:endParaRPr>
          </a:p>
        </p:txBody>
      </p:sp>
      <p:cxnSp>
        <p:nvCxnSpPr>
          <p:cNvPr id="102" name="Google Shape;102;p16"/>
          <p:cNvCxnSpPr/>
          <p:nvPr/>
        </p:nvCxnSpPr>
        <p:spPr>
          <a:xfrm flipH="1">
            <a:off x="1173080" y="4653338"/>
            <a:ext cx="239700" cy="2100"/>
          </a:xfrm>
          <a:prstGeom prst="straightConnector1">
            <a:avLst/>
          </a:prstGeom>
          <a:noFill/>
          <a:ln cap="flat" cmpd="sng" w="18500">
            <a:solidFill>
              <a:srgbClr val="268CD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3" name="Google Shape;103;p16"/>
          <p:cNvPicPr preferRelativeResize="0"/>
          <p:nvPr/>
        </p:nvPicPr>
        <p:blipFill rotWithShape="1">
          <a:blip r:embed="rId11">
            <a:alphaModFix/>
          </a:blip>
          <a:srcRect b="0" l="0" r="0" t="17287"/>
          <a:stretch/>
        </p:blipFill>
        <p:spPr>
          <a:xfrm>
            <a:off x="3256600" y="2120974"/>
            <a:ext cx="37992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/>
              <a:t>Quasi 1D system definition &amp; solver development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300800" y="950371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/>
              <a:t>Governing conditions &amp; equations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1957857" y="2633756"/>
            <a:ext cx="2982674" cy="1774663"/>
            <a:chOff x="266125" y="2917654"/>
            <a:chExt cx="5295000" cy="3150476"/>
          </a:xfrm>
        </p:grpSpPr>
        <p:grpSp>
          <p:nvGrpSpPr>
            <p:cNvPr id="112" name="Google Shape;112;p17"/>
            <p:cNvGrpSpPr/>
            <p:nvPr/>
          </p:nvGrpSpPr>
          <p:grpSpPr>
            <a:xfrm>
              <a:off x="266125" y="3541848"/>
              <a:ext cx="5295000" cy="2526282"/>
              <a:chOff x="266125" y="3861519"/>
              <a:chExt cx="5295000" cy="2526282"/>
            </a:xfrm>
          </p:grpSpPr>
          <p:sp>
            <p:nvSpPr>
              <p:cNvPr id="113" name="Google Shape;113;p17"/>
              <p:cNvSpPr txBox="1"/>
              <p:nvPr/>
            </p:nvSpPr>
            <p:spPr>
              <a:xfrm>
                <a:off x="536223" y="3861519"/>
                <a:ext cx="4273800" cy="4617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-28940" l="0" r="-2570" t="-10530"/>
                </a:stretch>
              </a:blipFill>
              <a:ln>
                <a:noFill/>
              </a:ln>
            </p:spPr>
            <p:txBody>
              <a:bodyPr anchorCtr="0" anchor="t" bIns="25750" lIns="51500" spcFirstLastPara="1" rIns="51500" wrap="square" tIns="25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014" u="none" cap="none" strike="noStrike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789"/>
              </a:p>
            </p:txBody>
          </p:sp>
          <p:grpSp>
            <p:nvGrpSpPr>
              <p:cNvPr id="114" name="Google Shape;114;p17"/>
              <p:cNvGrpSpPr/>
              <p:nvPr/>
            </p:nvGrpSpPr>
            <p:grpSpPr>
              <a:xfrm>
                <a:off x="405080" y="4495800"/>
                <a:ext cx="4908000" cy="804081"/>
                <a:chOff x="425862" y="3861519"/>
                <a:chExt cx="4908000" cy="804081"/>
              </a:xfrm>
            </p:grpSpPr>
            <p:sp>
              <p:nvSpPr>
                <p:cNvPr id="115" name="Google Shape;115;p17"/>
                <p:cNvSpPr txBox="1"/>
                <p:nvPr/>
              </p:nvSpPr>
              <p:spPr>
                <a:xfrm>
                  <a:off x="425862" y="4114800"/>
                  <a:ext cx="4908000" cy="550800"/>
                </a:xfrm>
                <a:prstGeom prst="rect">
                  <a:avLst/>
                </a:prstGeom>
                <a:blipFill rotWithShape="1">
                  <a:blip r:embed="rId4">
                    <a:alphaModFix/>
                  </a:blip>
                  <a:stretch>
                    <a:fillRect b="-3300" l="0" r="-250" t="0"/>
                  </a:stretch>
                </a:blipFill>
                <a:ln>
                  <a:noFill/>
                </a:ln>
              </p:spPr>
              <p:txBody>
                <a:bodyPr anchorCtr="0" anchor="t" bIns="25750" lIns="51500" spcFirstLastPara="1" rIns="51500" wrap="square" tIns="257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14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789"/>
                </a:p>
              </p:txBody>
            </p:sp>
            <p:sp>
              <p:nvSpPr>
                <p:cNvPr id="116" name="Google Shape;116;p17"/>
                <p:cNvSpPr txBox="1"/>
                <p:nvPr/>
              </p:nvSpPr>
              <p:spPr>
                <a:xfrm>
                  <a:off x="3840332" y="3861519"/>
                  <a:ext cx="990600" cy="443700"/>
                </a:xfrm>
                <a:prstGeom prst="rect">
                  <a:avLst/>
                </a:prstGeom>
                <a:blipFill rotWithShape="1">
                  <a:blip r:embed="rId5">
                    <a:alphaModFix/>
                  </a:blip>
                  <a:stretch>
                    <a:fillRect b="-2740" l="0" r="0" t="0"/>
                  </a:stretch>
                </a:blipFill>
                <a:ln>
                  <a:noFill/>
                </a:ln>
              </p:spPr>
              <p:txBody>
                <a:bodyPr anchorCtr="0" anchor="t" bIns="25750" lIns="51500" spcFirstLastPara="1" rIns="51500" wrap="square" tIns="257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14">
                      <a:latin typeface="Calibri"/>
                      <a:ea typeface="Calibri"/>
                      <a:cs typeface="Calibri"/>
                      <a:sym typeface="Calibri"/>
                    </a:rPr>
                    <a:t> </a:t>
                  </a:r>
                  <a:endParaRPr sz="789"/>
                </a:p>
              </p:txBody>
            </p:sp>
          </p:grpSp>
          <p:sp>
            <p:nvSpPr>
              <p:cNvPr id="117" name="Google Shape;117;p17"/>
              <p:cNvSpPr txBox="1"/>
              <p:nvPr/>
            </p:nvSpPr>
            <p:spPr>
              <a:xfrm>
                <a:off x="266125" y="5520201"/>
                <a:ext cx="5295000" cy="867600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-920" t="0"/>
                </a:stretch>
              </a:blipFill>
              <a:ln>
                <a:noFill/>
              </a:ln>
            </p:spPr>
            <p:txBody>
              <a:bodyPr anchorCtr="0" anchor="t" bIns="25750" lIns="51500" spcFirstLastPara="1" rIns="51500" wrap="square" tIns="25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4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789"/>
              </a:p>
            </p:txBody>
          </p:sp>
        </p:grpSp>
        <p:sp>
          <p:nvSpPr>
            <p:cNvPr id="118" name="Google Shape;118;p17"/>
            <p:cNvSpPr txBox="1"/>
            <p:nvPr/>
          </p:nvSpPr>
          <p:spPr>
            <a:xfrm>
              <a:off x="1318471" y="2917654"/>
              <a:ext cx="2856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750" lIns="51500" spcFirstLastPara="1" rIns="51500" wrap="square" tIns="257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014">
                  <a:solidFill>
                    <a:srgbClr val="953734"/>
                  </a:solidFill>
                  <a:latin typeface="Cambria"/>
                  <a:ea typeface="Cambria"/>
                  <a:cs typeface="Cambria"/>
                  <a:sym typeface="Cambria"/>
                </a:rPr>
                <a:t>Newton-Raphson Solution</a:t>
              </a:r>
              <a:endParaRPr b="1" i="1" sz="1014">
                <a:solidFill>
                  <a:srgbClr val="953734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19" name="Google Shape;119;p17"/>
          <p:cNvSpPr/>
          <p:nvPr/>
        </p:nvSpPr>
        <p:spPr>
          <a:xfrm>
            <a:off x="1946625" y="1431900"/>
            <a:ext cx="2982900" cy="3390900"/>
          </a:xfrm>
          <a:prstGeom prst="rect">
            <a:avLst/>
          </a:prstGeom>
          <a:noFill/>
          <a:ln cap="flat" cmpd="sng" w="14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50" lIns="51500" spcFirstLastPara="1" rIns="51500" wrap="square" tIns="25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4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012987" y="1431900"/>
            <a:ext cx="1819200" cy="3390900"/>
          </a:xfrm>
          <a:prstGeom prst="rect">
            <a:avLst/>
          </a:prstGeom>
          <a:noFill/>
          <a:ln cap="flat" cmpd="sng" w="14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750" lIns="51500" spcFirstLastPara="1" rIns="51500" wrap="square" tIns="25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4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2049520" y="1603593"/>
            <a:ext cx="2853937" cy="729729"/>
            <a:chOff x="448791" y="685800"/>
            <a:chExt cx="5066461" cy="1295453"/>
          </a:xfrm>
        </p:grpSpPr>
        <p:grpSp>
          <p:nvGrpSpPr>
            <p:cNvPr id="122" name="Google Shape;122;p17"/>
            <p:cNvGrpSpPr/>
            <p:nvPr/>
          </p:nvGrpSpPr>
          <p:grpSpPr>
            <a:xfrm>
              <a:off x="448791" y="1009299"/>
              <a:ext cx="5066461" cy="971954"/>
              <a:chOff x="443344" y="1061649"/>
              <a:chExt cx="5066461" cy="971954"/>
            </a:xfrm>
          </p:grpSpPr>
          <p:sp>
            <p:nvSpPr>
              <p:cNvPr id="123" name="Google Shape;123;p17"/>
              <p:cNvSpPr txBox="1"/>
              <p:nvPr/>
            </p:nvSpPr>
            <p:spPr>
              <a:xfrm>
                <a:off x="443344" y="1299503"/>
                <a:ext cx="4343400" cy="734100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10000" l="0" r="-3649" t="0"/>
                </a:stretch>
              </a:blipFill>
              <a:ln>
                <a:noFill/>
              </a:ln>
            </p:spPr>
            <p:txBody>
              <a:bodyPr anchorCtr="0" anchor="t" bIns="25750" lIns="51500" spcFirstLastPara="1" rIns="51500" wrap="square" tIns="25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4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789"/>
              </a:p>
            </p:txBody>
          </p:sp>
          <p:sp>
            <p:nvSpPr>
              <p:cNvPr id="124" name="Google Shape;124;p17"/>
              <p:cNvSpPr txBox="1"/>
              <p:nvPr/>
            </p:nvSpPr>
            <p:spPr>
              <a:xfrm>
                <a:off x="4519205" y="1061649"/>
                <a:ext cx="990600" cy="539700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-5680" l="0" r="0" t="0"/>
                </a:stretch>
              </a:blipFill>
              <a:ln>
                <a:noFill/>
              </a:ln>
            </p:spPr>
            <p:txBody>
              <a:bodyPr anchorCtr="0" anchor="t" bIns="25750" lIns="51500" spcFirstLastPara="1" rIns="51500" wrap="square" tIns="25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4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789"/>
              </a:p>
            </p:txBody>
          </p:sp>
        </p:grpSp>
        <p:sp>
          <p:nvSpPr>
            <p:cNvPr id="125" name="Google Shape;125;p17"/>
            <p:cNvSpPr txBox="1"/>
            <p:nvPr/>
          </p:nvSpPr>
          <p:spPr>
            <a:xfrm>
              <a:off x="1340091" y="685800"/>
              <a:ext cx="3118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750" lIns="51500" spcFirstLastPara="1" rIns="51500" wrap="square" tIns="257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014">
                  <a:solidFill>
                    <a:srgbClr val="953734"/>
                  </a:solidFill>
                  <a:latin typeface="Cambria"/>
                  <a:ea typeface="Cambria"/>
                  <a:cs typeface="Cambria"/>
                  <a:sym typeface="Cambria"/>
                </a:rPr>
                <a:t>Area-Mach Number Relation</a:t>
              </a:r>
              <a:endParaRPr b="1" i="1" sz="1014">
                <a:solidFill>
                  <a:srgbClr val="953734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26" name="Google Shape;126;p17"/>
          <p:cNvGrpSpPr/>
          <p:nvPr/>
        </p:nvGrpSpPr>
        <p:grpSpPr>
          <a:xfrm>
            <a:off x="5027682" y="1498130"/>
            <a:ext cx="1804306" cy="3074914"/>
            <a:chOff x="5735782" y="498576"/>
            <a:chExt cx="3203100" cy="5458751"/>
          </a:xfrm>
        </p:grpSpPr>
        <p:grpSp>
          <p:nvGrpSpPr>
            <p:cNvPr id="127" name="Google Shape;127;p17"/>
            <p:cNvGrpSpPr/>
            <p:nvPr/>
          </p:nvGrpSpPr>
          <p:grpSpPr>
            <a:xfrm>
              <a:off x="5943600" y="1015846"/>
              <a:ext cx="2787300" cy="4941481"/>
              <a:chOff x="5709675" y="1031219"/>
              <a:chExt cx="2787300" cy="4941481"/>
            </a:xfrm>
          </p:grpSpPr>
          <p:sp>
            <p:nvSpPr>
              <p:cNvPr id="128" name="Google Shape;128;p17"/>
              <p:cNvSpPr/>
              <p:nvPr/>
            </p:nvSpPr>
            <p:spPr>
              <a:xfrm>
                <a:off x="6059994" y="1031219"/>
                <a:ext cx="2083500" cy="889200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-8770" t="0"/>
                </a:stretch>
              </a:blipFill>
              <a:ln>
                <a:noFill/>
              </a:ln>
            </p:spPr>
            <p:txBody>
              <a:bodyPr anchorCtr="0" anchor="t" bIns="25750" lIns="51500" spcFirstLastPara="1" rIns="51500" wrap="square" tIns="25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4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789"/>
              </a:p>
            </p:txBody>
          </p:sp>
          <p:sp>
            <p:nvSpPr>
              <p:cNvPr id="129" name="Google Shape;129;p17"/>
              <p:cNvSpPr/>
              <p:nvPr/>
            </p:nvSpPr>
            <p:spPr>
              <a:xfrm>
                <a:off x="5709675" y="2743200"/>
                <a:ext cx="2787300" cy="11184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-6130" t="0"/>
                </a:stretch>
              </a:blipFill>
              <a:ln>
                <a:noFill/>
              </a:ln>
            </p:spPr>
            <p:txBody>
              <a:bodyPr anchorCtr="0" anchor="t" bIns="25750" lIns="51500" spcFirstLastPara="1" rIns="51500" wrap="square" tIns="25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4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789"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5709675" y="4876800"/>
                <a:ext cx="2785800" cy="10959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-6130" t="0"/>
                </a:stretch>
              </a:blipFill>
              <a:ln>
                <a:noFill/>
              </a:ln>
            </p:spPr>
            <p:txBody>
              <a:bodyPr anchorCtr="0" anchor="t" bIns="25750" lIns="51500" spcFirstLastPara="1" rIns="51500" wrap="square" tIns="25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014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789"/>
              </a:p>
            </p:txBody>
          </p:sp>
        </p:grpSp>
        <p:sp>
          <p:nvSpPr>
            <p:cNvPr id="131" name="Google Shape;131;p17"/>
            <p:cNvSpPr/>
            <p:nvPr/>
          </p:nvSpPr>
          <p:spPr>
            <a:xfrm>
              <a:off x="5735782" y="498576"/>
              <a:ext cx="3203100" cy="36930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6671" l="0" r="-2090" t="-8330"/>
              </a:stretch>
            </a:blipFill>
            <a:ln>
              <a:noFill/>
            </a:ln>
          </p:spPr>
          <p:txBody>
            <a:bodyPr anchorCtr="0" anchor="t" bIns="25750" lIns="51500" spcFirstLastPara="1" rIns="51500" wrap="square" tIns="25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4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789"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018338" y="2297668"/>
              <a:ext cx="2744700" cy="3693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24590" l="0" r="-2220" t="-8200"/>
              </a:stretch>
            </a:blipFill>
            <a:ln>
              <a:noFill/>
            </a:ln>
          </p:spPr>
          <p:txBody>
            <a:bodyPr anchorCtr="0" anchor="t" bIns="25750" lIns="51500" spcFirstLastPara="1" rIns="51500" wrap="square" tIns="25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4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789"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6019800" y="4342217"/>
              <a:ext cx="2603700" cy="36930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-24590" l="0" r="-2339" t="-8200"/>
              </a:stretch>
            </a:blipFill>
            <a:ln>
              <a:noFill/>
            </a:ln>
          </p:spPr>
          <p:txBody>
            <a:bodyPr anchorCtr="0" anchor="t" bIns="25750" lIns="51500" spcFirstLastPara="1" rIns="51500" wrap="square" tIns="25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14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sz="789"/>
            </a:p>
          </p:txBody>
        </p:sp>
      </p:grpSp>
      <p:sp>
        <p:nvSpPr>
          <p:cNvPr id="134" name="Google Shape;134;p17"/>
          <p:cNvSpPr txBox="1"/>
          <p:nvPr>
            <p:ph type="title"/>
          </p:nvPr>
        </p:nvSpPr>
        <p:spPr>
          <a:xfrm>
            <a:off x="1870618" y="4754764"/>
            <a:ext cx="4742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700"/>
              <a:t>Prof. D. Thevenin, </a:t>
            </a:r>
            <a:r>
              <a:rPr lang="en-GB" sz="700"/>
              <a:t>Advanced Fluid Dynamics Script, Lab of Fluid Mechanics &amp; Technical Flows, OVGU</a:t>
            </a:r>
            <a:endParaRPr sz="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/>
              <a:t>Quasi 1D system definition &amp; solver development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" name="Google Shape;141;p18"/>
          <p:cNvSpPr txBox="1"/>
          <p:nvPr>
            <p:ph type="title"/>
          </p:nvPr>
        </p:nvSpPr>
        <p:spPr>
          <a:xfrm>
            <a:off x="300800" y="950371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500"/>
              <a:t>Diffuser solver - Mach number plot (supersonic exit)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pic>
        <p:nvPicPr>
          <p:cNvPr id="142" name="Google Shape;142;p18" title="Exponential_profile_Ma-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50" y="1374477"/>
            <a:ext cx="2063277" cy="137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title="Sinosoidal_profile_Ma-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3000" y="1385391"/>
            <a:ext cx="2063274" cy="134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title="Algebraic_profile_Ma-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350" y="3301475"/>
            <a:ext cx="2063274" cy="134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title="Eliptical_profile_Ma-pl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9625" y="3290563"/>
            <a:ext cx="2096660" cy="137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type="title"/>
          </p:nvPr>
        </p:nvSpPr>
        <p:spPr>
          <a:xfrm>
            <a:off x="577350" y="2734825"/>
            <a:ext cx="2328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Exponential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5089625" y="4681425"/>
            <a:ext cx="2328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Elliptical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48" name="Google Shape;148;p18"/>
          <p:cNvSpPr txBox="1"/>
          <p:nvPr>
            <p:ph type="title"/>
          </p:nvPr>
        </p:nvSpPr>
        <p:spPr>
          <a:xfrm>
            <a:off x="577350" y="4650925"/>
            <a:ext cx="2328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Algebraic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49" name="Google Shape;149;p18"/>
          <p:cNvSpPr txBox="1"/>
          <p:nvPr>
            <p:ph type="title"/>
          </p:nvPr>
        </p:nvSpPr>
        <p:spPr>
          <a:xfrm>
            <a:off x="5123000" y="2727977"/>
            <a:ext cx="2328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300"/>
              <a:t>Sinusoidal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/>
              <a:t>Target for next sprint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311700" y="1017725"/>
            <a:ext cx="53118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Complete solver for quasi 1D system using MoC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Hand over complete placeholder data set to the development team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Detailed problem definition for 2D system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Investigate and choose numerical &amp; computational approaches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6" name="Google Shape;156;p19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1800"/>
              <a:t>Interactive Nozzle Flow Visualization Platform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311700" y="1152475"/>
            <a:ext cx="5311800" cy="30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• Unity scientific visualization platform for compressible nozzle flow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• Integrates engineering datasets from the CEE team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• Interactive exploration of: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  - Mach number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  - Pressure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  - Temperature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  - Density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200">
                <a:solidFill>
                  <a:schemeClr val="dk1"/>
                </a:solidFill>
              </a:rPr>
              <a:t>• Real-time parameter mapping and runtime visualization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• Designed for interactive engineering analysis and scientific exploration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575" y="1388497"/>
            <a:ext cx="3540725" cy="2167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/>
              <a:t>Visualization Architecture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311700" y="4305075"/>
            <a:ext cx="387900" cy="2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675" y="1017725"/>
            <a:ext cx="475165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/>
              <a:t>Current Unity Prototype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311700" y="1152475"/>
            <a:ext cx="297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Implementation Progress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CSV datasets successfully integrated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Runtime parameter mapping implemented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Modular nozzle segmentation system created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Interactive visualization pipeline established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Foundation for dynamic rendering completed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 txBox="1"/>
          <p:nvPr>
            <p:ph idx="12" type="sldNum"/>
          </p:nvPr>
        </p:nvSpPr>
        <p:spPr>
          <a:xfrm>
            <a:off x="844359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3591000" y="1141300"/>
            <a:ext cx="5101200" cy="23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3">
            <a:alphaModFix/>
          </a:blip>
          <a:srcRect b="-9250" l="0" r="0" t="9250"/>
          <a:stretch/>
        </p:blipFill>
        <p:spPr>
          <a:xfrm>
            <a:off x="4023350" y="1468125"/>
            <a:ext cx="4749425" cy="22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/>
              <a:t>Planned Visualization Features</a:t>
            </a:r>
            <a:endParaRPr b="1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842435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675" y="1017725"/>
            <a:ext cx="7146025" cy="33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8595308" y="-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